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PERTEMUAN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3152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dbt: Data Pipeline</a:t>
            </a:r>
            <a:br/>
            <a:r>
              <a:rPr sz="4000" b="1">
                <a:solidFill>
                  <a:srgbClr val="FFFFFF"/>
                </a:solidFill>
                <a:latin typeface="Calibri"/>
              </a:rPr>
              <a:t>Modern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SQL + software engineering.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BBDEFB"/>
                </a:solidFill>
                <a:latin typeface="Calibri"/>
              </a:rPr>
              <a:t>Testing, docs, version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90CAF9"/>
                </a:solidFill>
                <a:latin typeface="Calibri"/>
              </a:rPr>
              <a:t>Modern Big Data Engineering | Google Colab | 100% Gratis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1: SETUP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Setup dbt + DuckDB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941832"/>
            <a:ext cx="329184" cy="329184"/>
          </a:xfrm>
          <a:prstGeom prst="ellipse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9611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Install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521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!pip install dbt-duckdb duckdb -q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1691639"/>
            <a:ext cx="329184" cy="329184"/>
          </a:xfrm>
          <a:prstGeom prst="ellipse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19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!dbt --version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441447"/>
            <a:ext cx="329184" cy="329184"/>
          </a:xfrm>
          <a:prstGeom prst="ellipse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95727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Buat models/, tests/, macros/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91255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45535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dbt_project.yml + ~/.dbt/profiles.yml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3"/>
            <a:ext cx="329184" cy="329184"/>
          </a:xfrm>
          <a:prstGeom prst="ellipse">
            <a:avLst/>
          </a:prstGeom>
          <a:solidFill>
            <a:srgbClr val="00697C"/>
          </a:solidFill>
          <a:ln/>
        </p:spPr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95344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51375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Generate raw_orders 200K, raw_products 500, raw_customers 10K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2: TEORI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ETL vs ELT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14400"/>
            <a:ext cx="5349240" cy="5577840"/>
          </a:xfrm>
          <a:prstGeom prst="roundRect">
            <a:avLst/>
          </a:prstGeom>
          <a:solidFill>
            <a:srgbClr val="FFEBEE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62828"/>
                </a:solidFill>
                <a:latin typeface="Calibri"/>
              </a:rPr>
              <a:t>ETL (Lama)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Transform di server TERPISAH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Infra khusus (Informatica, SSIS)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Java/Scala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Mahal, lambat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Testing/docs jarang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914400"/>
            <a:ext cx="5349240" cy="5577840"/>
          </a:xfrm>
          <a:prstGeom prst="roundRect">
            <a:avLst/>
          </a:prstGeom>
          <a:solidFill>
            <a:srgbClr val="E8F5E9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E8850"/>
                </a:solidFill>
                <a:latin typeface="Calibri"/>
              </a:rPr>
              <a:t>ELT (Modern)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417320"/>
            <a:ext cx="50292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Transform DI DALAM warehouse!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SQL biasa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dbt (gratis, open source)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Git, testing, docs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40.000+ perusahaan pakai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dbt Fitur Utama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Models (.sql): setiap file = satu transformasi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ref(): dependency otomatis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Tests: not_null, unique, accepted_values, custom SQL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Docs: auto-generate + lineage graph (DAG)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Materializations: view (ringan) / table (cepat) / incremental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dbt run -&gt; semua model jalan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dbt test -&gt; semua test otomatis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Arsitektur Berlapis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SOURCES -&gt; data mentah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STAGING -&gt; 1:1, cleaning only (view)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INTERMEDIATE -&gt; JOIN + enrichment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MARTS -&gt; siap konsumsi: dashboard, ML (table)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raw_orders -&gt; stg_orders -&gt; int_order_items -&gt; fct_sales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raw_customers -&gt; stg_customers -&gt; dim_customers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47A1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BAGIAN 3: PRAKTIKUM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Staging + Mart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11612880" cy="4572000"/>
          </a:xfrm>
          <a:prstGeom prst="roundRect">
            <a:avLst/>
          </a:prstGeom>
          <a:solidFill>
            <a:srgbClr val="1E1E2E"/>
          </a:solidFill>
          <a:ln/>
        </p:spPr>
        <p:txBody>
          <a:bodyPr rtlCol="0" anchor="ctr" wrap="square" lIns="228600" tIns="137160" rIns="228600"/>
          <a:lstStyle/>
          <a:p>
            <a:pPr algn="ctr">
              <a:spcAft>
                <a:spcPts val="0"/>
              </a:spcAft>
            </a:pPr>
            <a:r>
              <a:rPr sz="1200">
                <a:solidFill>
                  <a:srgbClr val="CDD6F4"/>
                </a:solidFill>
                <a:latin typeface="Consolas"/>
              </a:rPr>
              <a:t>-- stg_orders.sql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WITH src AS (SELECT * FROM {{ source('tokokita','raw_orders') }})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SELECT order_id, customer_id,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COALESCE(LOWER(platform), 'unknown') AS platform,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CASE WHEN rating BETWEEN 1 AND 5 THEN rating END AS rating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FROM src WHERE order_id IS NOT NULL</a:t>
            </a:r>
            <a:br/>
            <a:br/>
            <a:r>
              <a:rPr sz="1200">
                <a:solidFill>
                  <a:srgbClr val="CDD6F4"/>
                </a:solidFill>
                <a:latin typeface="Consolas"/>
              </a:rPr>
              <a:t>-- dim_customers.sql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WITH c AS (SELECT * FROM {{ ref('stg_customers') }}),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o AS (SELECT * FROM {{ ref('int_customer_orders') }})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SELECT c.customer_id, c.city,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COALESCE(o.total_orders, 0) AS total_orders,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CASE WHEN o.total_orders &lt;= 1 THEN 'One-time'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         ELSE 'Frequent' END AS segment</a:t>
            </a:r>
            <a:br/>
            <a:r>
              <a:rPr sz="1200">
                <a:solidFill>
                  <a:srgbClr val="CDD6F4"/>
                </a:solidFill>
                <a:latin typeface="Consolas"/>
              </a:rPr>
              <a:t>FROM c LEFT JOIN o ON c.customer_id = o.customer_id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577840"/>
            <a:ext cx="11612880" cy="502920"/>
          </a:xfrm>
          <a:prstGeom prst="roundRect">
            <a:avLst/>
          </a:prstGeom>
          <a:solidFill>
            <a:srgbClr val="E3F2FD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5961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A73E8"/>
                </a:solidFill>
                <a:latin typeface="Calibri"/>
              </a:rPr>
              <a:t>Staging = cleaning. Mart = business logic + siap pakai.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885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Ringkasan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22960"/>
            <a:ext cx="164592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dbt = SQL + software engineering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ELT: transform di warehouse pakai SQL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Sources -&gt; Staging -&gt; Intermediate -&gt; Marts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Tests + lineage otomatis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Tugas: Category model, custom test, incremental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A73E8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212121"/>
                </a:solidFill>
                <a:latin typeface="Calibri"/>
              </a:rPr>
              <a:t>Referensi &amp; Bahan Belajar Mandiri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dbt: docs.getdbt.com/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Cheat Sheet: datacoves.com/post/dbt-cheatsheet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616161"/>
                </a:solidFill>
                <a:latin typeface="Calibri"/>
              </a:rPr>
              <a:t>Jaffle Shop: github.com/dbt-labs/jaffle-shop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STUDI KASUS &amp; TUGAS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94360"/>
            <a:ext cx="1371600" cy="27432"/>
          </a:xfrm>
          <a:prstGeom prst="rect">
            <a:avLst/>
          </a:prstGeom>
          <a:solidFill>
            <a:srgbClr val="FFFFFF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Studi Kasus: dbt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Gunakan dataset NYATA — kerjakan di Google Colab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FFE0B2"/>
                </a:solidFill>
                <a:latin typeface="Calibri"/>
              </a:rPr>
              <a:t>Kumpulkan notebook (.ipynb) + screenshot hasil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65C0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212121"/>
                </a:solidFill>
                <a:latin typeface="Calibri"/>
              </a:rPr>
              <a:t>Online Retail Pipeline (1M rows)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731520"/>
            <a:ext cx="11612880" cy="731520"/>
          </a:xfrm>
          <a:prstGeom prst="roundRect">
            <a:avLst/>
          </a:prstGeom>
          <a:solidFill>
            <a:srgbClr val="FFF3E0"/>
          </a:solidFill>
          <a:ln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616161"/>
                </a:solidFill>
                <a:latin typeface="Calibri"/>
              </a:rPr>
              <a:t>Online Retail II | 1.07M rows | 7+ dbt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kaggle.com/datasets/mashlyn/online-retail-ii-uci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STAGING: stg_transactions (clean nulls)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INTERMEDIATE: int_daily_sales, int_customer_orders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MARTS: fct_sales, dim_customers, rpt_monthly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TESTS: min 5 (not_null, unique, custom SQL)</a:t>
            </a:r>
          </a:p>
          <a:p>
            <a:pPr algn="l">
              <a:spcAft>
                <a:spcPts val="400"/>
              </a:spcAft>
            </a:p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BONUS: Jaffle Shop official tutorial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